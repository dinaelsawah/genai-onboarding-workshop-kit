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Welcome the room. Set tone: practical, not hype. Say what they'll leave with — a working prompt for a real task, not just theory.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Read the agenda quickly — don't dwell. Flag that item 5 (their next step) is the whole point of the session; everything else supports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 Ask: 'What's a task like this for you?' before revealing the After side. Let the time-saved number land — don't rush past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~8 min. This is the single most important slide. Spend real time here — the 'predicts, not knows' framing is what makes every later rule make sense instead of feeling arbitrary.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 min. Ask the room to add one item to each column from their own experience before you move on — this builds buy-in faster than your list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min. Walk through each step with a live example you build in front of them, one piece at a time, rather than explaining all five in the abstract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~8 min. Cover the weak prompt first and ask 'what's missing?' before revealing the strong version — let them diagnose it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~12 min hands-on + a few min debrief. Circulate the room actively — this is where quiet confusion hides. Prompt at least two people to share what they wrote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~8 min. Name your actual organization's policy explicitly here, not just the generic principle — point to where they can find it after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~8 min. Ask the room which question they'd add before you close this slide — there's almost always a fourth one worth answering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 Read these together rather than silently — hearing them said aloud is what makes them stick after people leave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min. Make this concrete before they leave: ask each person to say out loud (or write down) which task they'll write a prompt for. Vague commitments don't survive the walk back to their desk.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 min. Stay for questions rather than rushing out — the informal chat after this slide is usually where the real adoption blockers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5440680" y="1417320"/>
            <a:ext cx="1280160" cy="12801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4299" y="1570939"/>
            <a:ext cx="972922" cy="9729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88036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Foundations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0" y="370332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Smarter, Safely, with AI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0" y="598932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ONBOARDING WORKSHOP   ·   AI TRAINING &amp; ENABLEMENT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5669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~75–90 minutes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36192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716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generative AI actually is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0992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language — no hype, no jargon.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350008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6888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042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framework for great prompts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264261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→ Context → Format → Evaluate → Iterate.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282696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40156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23697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 with a real task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357530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leave with a working prompt, not just notes.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4215384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433425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416966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safely and responsibly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417320" y="450799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approved, what's never allowed.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5148072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5266944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17320" y="51023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one next step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1417320" y="544068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concrete thing to try before we meet again.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Task, Two 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F7F7F5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828800"/>
            <a:ext cx="502920" cy="502920"/>
          </a:xfrm>
          <a:prstGeom prst="ellipse">
            <a:avLst/>
          </a:prstGeom>
          <a:solidFill>
            <a:srgbClr val="9AA0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889150"/>
            <a:ext cx="382219" cy="38221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874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51460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parent-communication email from scratch: think through tone, structure, and wording, write a full draft, then revise it twice.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4805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6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 minutes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943600" y="1508760"/>
            <a:ext cx="5577840" cy="3749040"/>
          </a:xfrm>
          <a:prstGeom prst="roundRect">
            <a:avLst>
              <a:gd name="adj" fmla="val 2927"/>
            </a:avLst>
          </a:prstGeom>
          <a:solidFill>
            <a:srgbClr val="FDEAEA"/>
          </a:solidFill>
          <a:ln/>
        </p:spPr>
      </p:sp>
      <p:sp>
        <p:nvSpPr>
          <p:cNvPr id="10" name="Shape 7"/>
          <p:cNvSpPr/>
          <p:nvPr/>
        </p:nvSpPr>
        <p:spPr>
          <a:xfrm>
            <a:off x="6263640" y="1828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90" y="188915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03720" y="1874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263640" y="251460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structured prompt with the task, tone, and key details. Review the draft, tweak two sentences to sound like you.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263640" y="448056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 minutes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0" y="56235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quality bar. About 70% less time.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Generative AI, Really?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1554480" cy="15544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2472538"/>
            <a:ext cx="1181405" cy="1181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108960" y="16916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generative AI tool is a very well-read assistant that predicts what text (or image, or code) should come next, based on patterns in enormous amounts of writing.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108960" y="3063240"/>
            <a:ext cx="8412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know things the way a person does. It doesn't check facts before it writes them. It predicts — very well, most of the time — and that distinction is the most useful thing you'll learn today.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108960" y="461772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FDF6D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383280" y="4718304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5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 one line: it predicts, it doesn't know. Everything else about using it well follows from that.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It's Good At — And Not (Yet)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8653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first versions of writing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42032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7280" y="24871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long documents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63824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97280" y="3108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options quickly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85616"/>
            <a:ext cx="292608" cy="292608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97280" y="37307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Reformatting and restructuring text</a:t>
            </a:r>
            <a:endParaRPr lang="en-US" sz="1450" dirty="0"/>
          </a:p>
        </p:txBody>
      </p:sp>
      <p:sp>
        <p:nvSpPr>
          <p:cNvPr id="12" name="Shape 6"/>
          <p:cNvSpPr/>
          <p:nvPr/>
        </p:nvSpPr>
        <p:spPr>
          <a:xfrm>
            <a:off x="6080760" y="1463040"/>
            <a:ext cx="0" cy="457200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635508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GOOD AT (YET)</a:t>
            </a:r>
            <a:endParaRPr lang="en-US" sz="16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920240"/>
            <a:ext cx="292608" cy="292608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812280" y="186537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Guaranteeing every fact is correct</a:t>
            </a:r>
            <a:endParaRPr lang="en-US" sz="14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542032"/>
            <a:ext cx="292608" cy="292608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812280" y="248716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context you didn't give it</a:t>
            </a:r>
            <a:endParaRPr lang="en-US" sz="14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163824"/>
            <a:ext cx="292608" cy="292608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6812280" y="3108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your professional judgment</a:t>
            </a:r>
            <a:endParaRPr lang="en-US" sz="14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785616"/>
            <a:ext cx="292608" cy="292608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6812280" y="37307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 specific students or clients</a:t>
            </a:r>
            <a:endParaRPr lang="en-US" sz="1450" dirty="0"/>
          </a:p>
        </p:txBody>
      </p:sp>
      <p:sp>
        <p:nvSpPr>
          <p:cNvPr id="22" name="Text 1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Prompting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26464" y="228600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192" y="2395728"/>
            <a:ext cx="694944" cy="6949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33375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50392" y="3730752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 done?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056" y="2596896"/>
            <a:ext cx="292608" cy="2926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39312" y="228600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395728"/>
            <a:ext cx="694944" cy="6949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990088" y="33375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3063240" y="3730752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background matters?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2596896"/>
            <a:ext cx="292608" cy="29260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852160" y="228600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2395728"/>
            <a:ext cx="694944" cy="69494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202936" y="33375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</a:t>
            </a:r>
            <a:endParaRPr lang="en-US" sz="1700" dirty="0"/>
          </a:p>
        </p:txBody>
      </p:sp>
      <p:sp>
        <p:nvSpPr>
          <p:cNvPr id="16" name="Text 9"/>
          <p:cNvSpPr txBox="1"/>
          <p:nvPr/>
        </p:nvSpPr>
        <p:spPr>
          <a:xfrm>
            <a:off x="5276088" y="3730752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it look like?</a:t>
            </a:r>
            <a:endParaRPr lang="en-US" sz="11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9752" y="2596896"/>
            <a:ext cx="292608" cy="292608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065008" y="228600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4736" y="2395728"/>
            <a:ext cx="694944" cy="694944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415784" y="33375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700" dirty="0"/>
          </a:p>
        </p:txBody>
      </p:sp>
      <p:sp>
        <p:nvSpPr>
          <p:cNvPr id="21" name="Text 12"/>
          <p:cNvSpPr txBox="1"/>
          <p:nvPr/>
        </p:nvSpPr>
        <p:spPr>
          <a:xfrm>
            <a:off x="7488936" y="3730752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actually good?</a:t>
            </a:r>
            <a:endParaRPr lang="en-US" sz="11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2596896"/>
            <a:ext cx="292608" cy="292608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10277856" y="228600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7584" y="2395728"/>
            <a:ext cx="694944" cy="694944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9628632" y="3337560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Iterate</a:t>
            </a:r>
            <a:endParaRPr lang="en-US" sz="1700" dirty="0"/>
          </a:p>
        </p:txBody>
      </p:sp>
      <p:sp>
        <p:nvSpPr>
          <p:cNvPr id="26" name="Text 15"/>
          <p:cNvSpPr txBox="1"/>
          <p:nvPr/>
        </p:nvSpPr>
        <p:spPr>
          <a:xfrm>
            <a:off x="9701784" y="3730752"/>
            <a:ext cx="20665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and ask again.</a:t>
            </a:r>
            <a:endParaRPr lang="en-US" sz="1150" dirty="0"/>
          </a:p>
        </p:txBody>
      </p:sp>
      <p:sp>
        <p:nvSpPr>
          <p:cNvPr id="27" name="Shape 16"/>
          <p:cNvSpPr/>
          <p:nvPr/>
        </p:nvSpPr>
        <p:spPr>
          <a:xfrm>
            <a:off x="777240" y="5074920"/>
            <a:ext cx="10607040" cy="777240"/>
          </a:xfrm>
          <a:prstGeom prst="roundRect">
            <a:avLst>
              <a:gd name="adj" fmla="val 11765"/>
            </a:avLst>
          </a:prstGeom>
          <a:solidFill>
            <a:srgbClr val="FDF6D9"/>
          </a:solidFill>
          <a:ln/>
        </p:spPr>
      </p:sp>
      <p:sp>
        <p:nvSpPr>
          <p:cNvPr id="28" name="Text 17"/>
          <p:cNvSpPr txBox="1"/>
          <p:nvPr/>
        </p:nvSpPr>
        <p:spPr>
          <a:xfrm>
            <a:off x="1051560" y="5175504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steps, one habit: name the task, give context, say the format, check the output, refine.</a:t>
            </a:r>
            <a:endParaRPr lang="en-US" sz="1400" dirty="0"/>
          </a:p>
        </p:txBody>
      </p:sp>
      <p:sp>
        <p:nvSpPr>
          <p:cNvPr id="29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Request, Better Prompt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7F7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1488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newsletter for parents."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4663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task detail, no context about the school or event, no format, nothing to evaluate against — you'll get a generic result and rewrite most of it anyway.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DEA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14884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"Write a 200-word newsletter section (Task) announcing our Year 5 science fair on Friday, for parents who haven’t heard details yet (Context). Use a warm, brief tone, three short paragraphs (Format)."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416052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read it against what you actually need (Evaluate), and ask for one more tweak if it's not quite right (Iterate).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5440680" y="1051560"/>
            <a:ext cx="1188720" cy="11887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3326" y="1194206"/>
            <a:ext cx="903427" cy="90342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42316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34290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worksheet. Pick one real task you do weekly.</a:t>
            </a:r>
            <a:endParaRPr lang="en-US" sz="1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3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first prompt using the framework.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0" y="489204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12 minutes. We'll share a few out loud after.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&amp; Safe Use: The Essentials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636776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49047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organization's AI usage policy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83794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exists so you don't have to guess — when in doubt, it's the standard.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624328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752344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6060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sensitive or personal data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463040" y="29535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client, or financial details never go into a public AI tool.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739896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867912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63040" y="37216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before you use the output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463040" y="40690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every result as a draft a human hasn't checked yet — because it hasn't.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98348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63040" y="4837176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if you're unsure — every single time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463040" y="51846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two-minute question is cheaper than an avoidable mistake.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Questions, Real Answers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7F7F5"/>
          </a:solidFill>
          <a:ln/>
        </p:spPr>
      </p:sp>
      <p:sp>
        <p:nvSpPr>
          <p:cNvPr id="4" name="Shape 2"/>
          <p:cNvSpPr/>
          <p:nvPr/>
        </p:nvSpPr>
        <p:spPr>
          <a:xfrm>
            <a:off x="2139696" y="182880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1956816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060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this replace my job?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4290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changes which parts take time. The judgment, relationships, and accountability stay yours.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34840" y="155448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7F7F5"/>
          </a:solidFill>
          <a:ln/>
        </p:spPr>
      </p:sp>
      <p:sp>
        <p:nvSpPr>
          <p:cNvPr id="9" name="Shape 6"/>
          <p:cNvSpPr/>
          <p:nvPr/>
        </p:nvSpPr>
        <p:spPr>
          <a:xfrm>
            <a:off x="5934456" y="182880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2472" y="195681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26060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my data safe?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34290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you follow the policy. Approved tools, no sensitive data, always — no exceptions.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0" y="155448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F7F7F5"/>
          </a:solidFill>
          <a:ln/>
        </p:spPr>
      </p:sp>
      <p:sp>
        <p:nvSpPr>
          <p:cNvPr id="14" name="Shape 10"/>
          <p:cNvSpPr/>
          <p:nvPr/>
        </p:nvSpPr>
        <p:spPr>
          <a:xfrm>
            <a:off x="9729216" y="182880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195681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26060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it's wrong?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503920" y="342900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be, sometimes. That's why Evaluate is step 4 of the framework, not optional.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predicts, it doesn't know — verify before you trust it.</a:t>
            </a:r>
            <a:endParaRPr lang="en-US" sz="1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77440"/>
            <a:ext cx="329184" cy="3291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Task, Context, Format, Evaluate, Iterate: one framework, every time.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54680"/>
            <a:ext cx="329184" cy="32918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18872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drafts and speed; not a substitute for your judgment.</a:t>
            </a:r>
            <a:endParaRPr lang="en-US" sz="16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31920"/>
            <a:ext cx="329184" cy="329184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8872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first, always — never paste sensitive data.</a:t>
            </a:r>
            <a:endParaRPr lang="en-US" sz="16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709160"/>
            <a:ext cx="329184" cy="32918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188720" y="4663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good prompt, practiced weekly, beats a dozen you never use.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3" name="Shape 1"/>
          <p:cNvSpPr/>
          <p:nvPr/>
        </p:nvSpPr>
        <p:spPr>
          <a:xfrm>
            <a:off x="5440680" y="914400"/>
            <a:ext cx="1097280" cy="10972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2354" y="1046074"/>
            <a:ext cx="833933" cy="83393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19456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Next Step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737360" y="3200400"/>
            <a:ext cx="8686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103120" y="338328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meet again: write one prompt for a task you already do weekly — using the framework.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0" y="521208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it to our next session — we'll refine it together.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Shape 1"/>
          <p:cNvSpPr/>
          <p:nvPr/>
        </p:nvSpPr>
        <p:spPr>
          <a:xfrm>
            <a:off x="5440680" y="1371600"/>
            <a:ext cx="1097280" cy="10972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2354" y="1503274"/>
            <a:ext cx="833933" cy="83393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74320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0" y="361188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AI Enablement Playbook  ·  github.com/DinaElSawah/ai-enablement-playbook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2026-09-26T11:51:20Z</dcterms:created>
  <dcterms:modified xsi:type="dcterms:W3CDTF">2026-09-26T11:51:20Z</dcterms:modified>
</cp:coreProperties>
</file>